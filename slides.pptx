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D4A574"/>
                </a:solidFill>
                <a:latin typeface="Calibri"/>
              </a:defRPr>
            </a:pPr>
            <a:r>
              <a:t>GitHub Copilot Workshop</a:t>
            </a:r>
          </a:p>
          <a:p>
            <a:pPr algn="ctr">
              <a:spcBef>
                <a:spcPts val="1600"/>
              </a:spcBef>
              <a:defRPr sz="2400" b="0">
                <a:solidFill>
                  <a:srgbClr val="C49A6C"/>
                </a:solidFill>
                <a:latin typeface="Calibri"/>
              </a:defRPr>
            </a:pPr>
            <a:r>
              <a:t>From Beginner to Intermediate</a:t>
            </a:r>
            <a:br/>
            <a:br/>
            <a:r>
              <a:t>An interactive, hands-on session with a real codebase</a:t>
            </a:r>
            <a:br/>
            <a:br/>
            <a:r>
              <a:t>~95 minutes  |  9 exercises  |  Live coding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Agenda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80467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240"/>
                <a:gridCol w="2682240"/>
                <a:gridCol w="268224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Part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Topics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Time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1. Foundations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Install, inline, Chat, Ask/Edit/Agent modes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25 min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2. Configuration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Custom instructions, settings, model picker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20 min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3. Reusable workflows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Agent mode, prompt files, chat modes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25 min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4. Advanced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MCP, Copilot Coding Agent, context management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15 min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5. Real-world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End-to-end feature + PR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5 min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Wrap-up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Quick wins, Q&amp;A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5 min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Setup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# VS Code + GitHub Copilot + GitHub Copilot Chat extensions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# Signed into GitHub with an active Copilot subscription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python --version         # Python 3.11+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uv --version             # uv package manager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git clone https://github.com/zachschillaci27/github-copilot-workshop.git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cd github-copilot-workshop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uv sync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uv run pytest            # 18 tests should pass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code .                   # open in VS Code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D4A574"/>
                </a:solidFill>
                <a:latin typeface="Calibri"/>
              </a:defRPr>
            </a:pPr>
            <a:r>
              <a:t>Part 1</a:t>
            </a:r>
          </a:p>
          <a:p>
            <a:pPr algn="ctr">
              <a:spcBef>
                <a:spcPts val="1600"/>
              </a:spcBef>
              <a:defRPr sz="2400" b="0">
                <a:solidFill>
                  <a:srgbClr val="C49A6C"/>
                </a:solidFill>
                <a:latin typeface="Calibri"/>
              </a:defRPr>
            </a:pPr>
            <a:r>
              <a:t>Foundations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Exercise 1 — Getting Started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What is GitHub Copilot?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A family of AI features for software engineering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Inline suggestions — ghost-text autocompletion as you type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Chat — ask questions, explain code, explore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Edits — multi-file diffs you approve hunk-by-hunk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Agent — reads, edits, runs terminal, iterates until done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Coding Agent — async, issue-driven, opens PRs for you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Where Copilot Lives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80467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402336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Surface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What you use it for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VS Code / JetBrains / Visual Studio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Inline + Chat + agent mode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GitHub.com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PR summaries, code review, issues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Copilot Coding Agent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Async: assign an issue, get a PR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gh copilot / copilot CLI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Terminal-native suggestions + chat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GitHub Mobile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On-the-go Q&amp;A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Ask / Edit / Agent — When to Use Which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80467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240"/>
                <a:gridCol w="2682240"/>
                <a:gridCol w="268224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Mode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Does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Use when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Ask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Answers, no edits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Exploring, explaining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Edit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Proposes multi-file diff you approve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Focused refactor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Agent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Reads + edits + runs tools + loops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Multi-step tasks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Try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Open the Chat view (Ctrl/Cmd+Alt+I), switch to Agent mode: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"What does this project do?"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"Show me all the API endpoints"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"Add a description field to the /health endpoint that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returns 'TaskFlow health check', then run the tests"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# Click the Checkpoint button to revert the whole turn.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Attach Context &amp; Run Commands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804672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402336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Shortcut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What it does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#file:&lt;path&gt;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Attach a specific file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#selection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Attach the current editor selection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#codebase &lt;q&gt;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Semantic search across the repo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#changes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Working-tree diff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#problems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Items in the Problems panel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@workspace &lt;q&gt;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Project-wide Q&amp;A specialist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/explain /fix /tests /doc /new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Built-in slash commands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Ctrl/Cmd+I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Inline chat on the current selection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D4A574"/>
                </a:solidFill>
                <a:latin typeface="Calibri"/>
              </a:defRPr>
            </a:pPr>
            <a:r>
              <a:t>Part 2</a:t>
            </a:r>
          </a:p>
          <a:p>
            <a:pPr algn="ctr">
              <a:spcBef>
                <a:spcPts val="1600"/>
              </a:spcBef>
              <a:defRPr sz="2400" b="0">
                <a:solidFill>
                  <a:srgbClr val="C49A6C"/>
                </a:solidFill>
                <a:latin typeface="Calibri"/>
              </a:defRPr>
            </a:pPr>
            <a:r>
              <a:t>Configuration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Exercise 2 — Custom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The single most impactful file for team-wide productivity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Loaded automatically for every Chat / agent request. Covers: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- How to build and test your project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- Code conventions to follow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- Architecture overview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- Gotchas and workflows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File locations: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.github/copilot-instructions.md       — Repo-wide (shared via git)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.github/instructions/*.instructions.md — Path-scoped (applyTo glob)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VS Code user settings                 — Personal, not shared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What to Put in copilot-instructions.md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# TaskFlow API — Copilot Instructions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## Build &amp; Run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- Install: `uv sync`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- Run tests: `uv run pytest`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- Lint: `uv run ruff check src/ tests/`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## Code Conventions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- Type hints on every function signature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- Prefer `str | None` over `Optional[str]`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- Keep endpoint handlers thin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## API Design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- All endpoints under /api/v1/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- 201 for create, 204 for delete, 404 w/ detail for missing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Path-Scoped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Only injected when the conversation touches matching files.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---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applyTo: "tests/**/*.py"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description: "Pytest conventions for TaskFlow"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---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# Test Conventions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- Use the `client` fixture from tests/conftest.py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- Name tests test_&lt;action&gt;_&lt;scenario&gt;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- Every endpoint: happy path + error + one edge case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Exercise 3 — Settings &amp; Permissions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VS Code settings shape Copilot's behaviour across modes.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.vscode/settings.json                    — Workspace (shared via git)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VS Code user settings                    — Personal, not shared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GitHub org / enterprise console          — Policy, content exclusion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Key Copilot settings: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github.copilot.enable                  — per-language toggle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chat.agent.enabled / maxRequests       — enable + cap tool calls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chat.tools.terminal.autoApprove        — allow/deny terminal cmds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chat.checkpoints.enabled               — revertable agent edits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Terminal Auto-Approve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The safest way to reduce approval fatigue — allowlist the benign,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denylist the dangerous, prompt on everything else.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{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"chat.tools.terminal.autoApprove": {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  "uv run pytest": true,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  "uv run ruff": true,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  "uv sync": true,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  "/^git (status|diff|log|branch|show)\\b/": true,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  "rm": false,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  "sudo": false,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  "curl": false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}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D4A574"/>
                </a:solidFill>
                <a:latin typeface="Calibri"/>
              </a:defRPr>
            </a:pPr>
            <a:r>
              <a:t>Part 3</a:t>
            </a:r>
          </a:p>
          <a:p>
            <a:pPr algn="ctr">
              <a:spcBef>
                <a:spcPts val="1600"/>
              </a:spcBef>
              <a:defRPr sz="2400" b="0">
                <a:solidFill>
                  <a:srgbClr val="C49A6C"/>
                </a:solidFill>
                <a:latin typeface="Calibri"/>
              </a:defRPr>
            </a:pPr>
            <a:r>
              <a:t>Reusable workflows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Exercise 4 — Agent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Copilot reads, plans, edits across files, runs the terminal, and loops.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Safety rails: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Checkpoint button          — one-click revert of a whole turn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chat.agent.maxRequests     — cap on tool calls (default 25)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terminal / edit auto-approve — allow/deny lists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network filter (optional)  — HTTP domain allowlist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No `PreToolUse` hooks like Claude Code — enforce via: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1. Instructions + agent judgement (soft guardrail)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2. Content exclusion policy (Business/Enterprise)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3. Pre-commit hooks (hard gate before commit)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Exercise 5 — Prompt 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Reusable /slash commands, stored in .github/prompts/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---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mode: agent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description: Scaffold a new TaskFlow endpoint with tests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---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# Add New Endpoint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Create a new API endpoint for: ${input:spec:e.g. GET /api/v1/tasks/overdue}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1. Read src/taskflow/routers/tasks.py for the pattern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2. Add the endpoint + database method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3. Write tests using the `client` fixture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4. Run `uv run pytest` to confirm green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Prompt File Frontmatter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80467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402336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Field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mode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ask | edit | agent — which chat mode it runs in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Shown in the slash-command menu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tools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(Optional) allow-list of tools / MCP globs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(Optional) pin a specific model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${input:name:placeholder}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Prompt the user for input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${selection} / ${file}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Editor context injection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#codebase / #changes / #file:…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Chat-variable context injection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Try the Pre-Built Prompts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/review src/taskflow/routers/tasks.py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# -&gt; Structured code review against project standards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/test-coverage src/taskflow/routers/users.py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# -&gt; Finds untested functions, proposes test cases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/add-endpoint GET /api/v1/tasks/overdue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# -&gt; Scaffolds endpoint + database method + tests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/debug GET /api/v1/tasks returns 500 on invalid status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# -&gt; Investigation with root-cause + proposed fix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/changelog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# -&gt; Keep-a-Changelog entry from #changes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Exercise 6 — Custom Chat Modes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Persistent personas with scoped tools. Sit alongside Ask / Edit / Agent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in the mode picker.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.github/chatmodes/&lt;name&gt;.chatmode.md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---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description: Read-only planner — designs without editing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tools: ['codebase','search','usages','findTestFiles',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      'problems','changes','fetch']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---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You are in planning mode. Produce a concrete implementation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plan. Do not edit any files. Cite existing code with path:line.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Prompt Files vs Chat Modes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80467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402336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Prompt file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Chat mode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One-shot reusable task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Persistent working persona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Needs ${input:…} placeholders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Multi-turn conversation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Ships in /slash menu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Ships in mode picker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Invocation: /review src/…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Invocation: switch mode, chat freely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Good for: scaffolding, review, docs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Good for: planner, reviewer, test-writer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D4A574"/>
                </a:solidFill>
                <a:latin typeface="Calibri"/>
              </a:defRPr>
            </a:pPr>
            <a:r>
              <a:t>Part 4</a:t>
            </a:r>
          </a:p>
          <a:p>
            <a:pPr algn="ctr">
              <a:spcBef>
                <a:spcPts val="1600"/>
              </a:spcBef>
              <a:defRPr sz="2400" b="0">
                <a:solidFill>
                  <a:srgbClr val="C49A6C"/>
                </a:solidFill>
                <a:latin typeface="Calibri"/>
              </a:defRPr>
            </a:pPr>
            <a:r>
              <a:t>Advanced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Exercise 7 — MCP Servers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Extend agent mode with external tools (GitHub, databases, browsers).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Cross-ecosystem: Copilot / Claude Code / Cursor all speak the same protocol.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Configuration lives in .vscode/mcp.json (workspace) or user settings.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Credentials come from `inputs` → ${input:id} — never hardcoded.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{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"inputs": [{ "id": "github-pat", "type": "promptString",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             "password": true }],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"servers": {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  "github": {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    "type": "http",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    "url": "https://api.githubcopilot.com/mcp",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    "headers": {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       "Authorization": "Bearer ${input:github-pat}"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} } } }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Copilot Coding Agent (Async)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Different product from agent mode — runs on GitHub Actions, not locally.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Trigger: assign an issue to @copilot, or @copilot-mention in a comment.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What happens: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1. Researches the repo, posts an implementation plan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2. Commits iteratively on a feature branch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3. Opens a draft PR, runs checks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4. Responds to @copilot feedback comments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Environment bootstrap: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.github/workflows/copilot-setup-steps.yml (must be on default branch)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Exercise 8 — Context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Control what Copilot sees. Pick the right model for the turn.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# Chat variables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#file:&lt;path&gt;           attach a file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#selection             editor selection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#codebase &lt;q&gt;          semantic repo search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#changes               working-tree diff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#problems              Problems panel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#terminalLastCommand   last shell command + output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# Participants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@workspace   project-wide specialist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@terminal    shell-aware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@github      issues, PRs, repos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Model Picker — Trade Latency for Depth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804672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402336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Tier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Use for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Fast / general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Default turn; quick edits; explanations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Deep reasoning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Plans, ambiguous refactors, architecture Q&amp;A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Lightweight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High-volume small completions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Vision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Screenshots, diagrams, UI reviews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D4A574"/>
                </a:solidFill>
                <a:latin typeface="Calibri"/>
              </a:defRPr>
            </a:pPr>
            <a:r>
              <a:t>Part 5</a:t>
            </a:r>
          </a:p>
          <a:p>
            <a:pPr algn="ctr">
              <a:spcBef>
                <a:spcPts val="1600"/>
              </a:spcBef>
              <a:defRPr sz="2400" b="0">
                <a:solidFill>
                  <a:srgbClr val="C49A6C"/>
                </a:solidFill>
                <a:latin typeface="Calibri"/>
              </a:defRPr>
            </a:pPr>
            <a:r>
              <a:t>Real-world workflow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Exercise 9 — End-to-End Feature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Putting it all together — local agent mode: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1. Branch — create feature/task-search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2. Planner mode — read-only plan with path:line citations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3. /add-endpoint — scaffold route, database method, tests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4. Reviewer mode — structured review against conventions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5. /test-coverage — fill the gaps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6. Commit &amp; push, then @github open a PR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Or go async: file the issue, assign to @copilot, review the PR.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"Add a search query param to GET /api/v1/tasks. Update the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database layer, the route, and the tests. Use agent mode</a:t>
            </a:r>
          </a:p>
          <a:p>
            <a:pPr>
              <a:spcBef>
                <a:spcPts val="200"/>
              </a:spcBef>
              <a:defRPr sz="1400">
                <a:solidFill>
                  <a:srgbClr val="E8C47C"/>
                </a:solidFill>
                <a:latin typeface="Consolas"/>
              </a:defRPr>
            </a:pPr>
            <a:r>
              <a:t> end-to-end."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D4A574"/>
                </a:solidFill>
                <a:latin typeface="Calibri"/>
              </a:defRPr>
            </a:pPr>
            <a:r>
              <a:t>Wrap-Up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Quick Wins to Take 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Today: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1. Add .github/copilot-instructions.md to your repos — 5 minutes, huge ROI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This week: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2. Allowlist your common commands in chat.tools.terminal.autoApprove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3. Create one prompt file for your most repeated workflow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This month: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4. Build a planner / reviewer chat mode for your team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5. Try assigning a small issue to @copilot and review the PR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The Copilot Configuration Landscape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80467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240"/>
                <a:gridCol w="2682240"/>
                <a:gridCol w="268224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File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D4A574"/>
                          </a:solidFill>
                          <a:latin typeface="Calibri"/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2D2D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Repo instructions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.github/copilot-instructions.md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Team-wide conventions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Path instructions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.github/instructions/*.instructions.md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Scoped rules (applyTo)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Prompt files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.github/prompts/*.prompt.md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Reusable /slash commands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Chat modes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.github/chatmodes/*.chatmode.md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Scoped personas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Workspace settings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.vscode/settings.json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Enablement + auto-approve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MCP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.vscode/mcp.json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External tools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Coding agent env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.github/workflows/copilot-setup-steps.yml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0E0E0"/>
                          </a:solidFill>
                          <a:latin typeface="Calibri"/>
                        </a:defRPr>
                      </a:pPr>
                      <a:r>
                        <a:t>Cloud-agent bootstrap</a:t>
                      </a:r>
                    </a:p>
                  </a:txBody>
                  <a:tcPr>
                    <a:solidFill>
                      <a:srgbClr val="1E1E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Interop With Other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This repo also ships CLAUDE.md and .claude/skills/ — not used by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Copilot, kept to show the same project instrumented for two tools.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Keep conventions in sync across: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.github/copilot-instructions.md   (Copilot reads)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CLAUDE.md                         (Claude Code reads)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AGENTS.md                         (several tools recognize)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MCP servers work across Copilot, Claude, Cursor, Windsurf — one config,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many consumers.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D4A574"/>
                </a:solidFill>
                <a:latin typeface="Calibri"/>
              </a:defRPr>
            </a:pPr>
            <a:r>
              <a:t>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800">
                <a:solidFill>
                  <a:srgbClr val="E0E0E0"/>
                </a:solidFill>
                <a:latin typeface="Calibri"/>
              </a:defRPr>
            </a:pPr>
            <a:r>
              <a:t>GitHub Copilot docs: https://docs.github.com/en/copilot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Copilot in VS Code:  https://code.visualstudio.com/docs/copilot/overview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Community catalog:   https://github.com/github/awesome-copilot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This repo: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exercises/ — 9 self-paced exercises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.github/   — all Copilot configuration</a:t>
            </a:r>
          </a:p>
          <a:p>
            <a:pPr>
              <a:spcBef>
                <a:spcPts val="800"/>
              </a:spcBef>
              <a:defRPr sz="1800" b="0">
                <a:solidFill>
                  <a:srgbClr val="E0E0E0"/>
                </a:solidFill>
                <a:latin typeface="Calibri"/>
              </a:defRPr>
            </a:pPr>
            <a:r>
              <a:t>  .vscode/   — workspace settings + MCP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D4A574"/>
                </a:solidFill>
                <a:latin typeface="Calibri"/>
              </a:defRPr>
            </a:pPr>
            <a:r>
              <a:t>Questions?</a:t>
            </a:r>
          </a:p>
          <a:p>
            <a:pPr algn="ctr">
              <a:spcBef>
                <a:spcPts val="1600"/>
              </a:spcBef>
              <a:defRPr sz="2400" b="0">
                <a:solidFill>
                  <a:srgbClr val="C49A6C"/>
                </a:solidFill>
                <a:latin typeface="Calibri"/>
              </a:defRPr>
            </a:pPr>
            <a:r>
              <a:t>Open Copilot Chat and ask:</a:t>
            </a:r>
            <a:br/>
            <a:r>
              <a:t>"@workspace what should I explore next?"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